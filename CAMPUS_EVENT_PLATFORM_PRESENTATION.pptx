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32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4F46E5"/>
                </a:solidFill>
              </a:defRPr>
            </a:pPr>
            <a:r>
              <a:t>COLLEGE ITW WORKSHOP PROJECT</a:t>
            </a:r>
          </a:p>
          <a:p>
            <a:pPr>
              <a:spcAft>
                <a:spcPts val="800"/>
              </a:spcAft>
              <a:defRPr sz="4000" b="1">
                <a:solidFill>
                  <a:srgbClr val="0F172A"/>
                </a:solidFill>
              </a:defRPr>
            </a:pPr>
            <a:r>
              <a:t>BookMyCollege</a:t>
            </a:r>
          </a:p>
          <a:p>
            <a:pPr>
              <a:defRPr sz="1400">
                <a:solidFill>
                  <a:srgbClr val="64748B"/>
                </a:solidFill>
              </a:defRPr>
            </a:pPr>
            <a:r>
              <a:t>All-in-One Campus Event Ticketing, Real-Time Crowdfunding &amp; In-Browser QR Pass Platform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4297680"/>
            <a:ext cx="10362895" cy="15544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/>
          <a:lstStyle/>
          <a:p>
            <a:pPr algn="ctr">
              <a:spcAft>
                <a:spcPts val="600"/>
              </a:spcAft>
              <a:defRPr sz="1150" b="1">
                <a:solidFill>
                  <a:srgbClr val="0F172A"/>
                </a:solidFill>
              </a:defRPr>
            </a:pPr>
            <a:r>
              <a:t>BookMyCollege Core Architecture &amp; Highlights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• Frontend: HTML5, Tailwind CSS, Vanilla JavaScript (Single Page Architecture, 100% Mobile Responsive)</a:t>
            </a:r>
            <a:br/>
            <a:r>
              <a:t>• Cloud Backend: Supabase (PostgreSQL 15), ACID Row-Level Locking | Payments: Razorpay Serverless API</a:t>
            </a:r>
            <a:br/>
            <a:r>
              <a:t>• Innovations: Zero Double-Booking, Instant Auto-Refunds, In-Browser Camera Scanner &amp; Locked Canvas Certificates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4F46E5"/>
                </a:solidFill>
              </a:defRPr>
            </a:pPr>
            <a:r>
              <a:t>BOOKMYCOLLEGE • CAMPUS EVENT &amp; CROWDFUNDING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The Problem: Why Traditional College Events Fail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800"/>
              </a:spcAft>
              <a:defRPr sz="1300" b="1">
                <a:solidFill>
                  <a:srgbClr val="EF4444"/>
                </a:solidFill>
              </a:defRPr>
            </a:pPr>
            <a:r>
              <a:t>1. Messy Forms &amp; WhatsApp</a:t>
            </a:r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</a:defRPr>
            </a:pPr>
            <a:r>
              <a:t>• Clubs collect registrations via unstructured Google Forms.</a:t>
            </a:r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</a:defRPr>
            </a:pPr>
            <a:r>
              <a:t>• Students send payment screenshots on WhatsApp groups.</a:t>
            </a:r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</a:defRPr>
            </a:pPr>
            <a:r>
              <a:t>• Organizers waste hours manually cross-checking bank SMS and UTR numbers.</a:t>
            </a:r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</a:defRPr>
            </a:pPr>
            <a:r>
              <a:t>• Frequent human errors and lost records.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645920"/>
            <a:ext cx="3291840" cy="4389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800"/>
              </a:spcAft>
              <a:defRPr sz="1300" b="1">
                <a:solidFill>
                  <a:srgbClr val="EF4444"/>
                </a:solidFill>
              </a:defRPr>
            </a:pPr>
            <a:r>
              <a:t>2. Fake Tickets &amp; Proxy Attendance</a:t>
            </a:r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</a:defRPr>
            </a:pPr>
            <a:r>
              <a:t>• No reliable check-in system at the auditorium door.</a:t>
            </a:r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</a:defRPr>
            </a:pPr>
            <a:r>
              <a:t>• Students forward PDF passes or screenshot QR codes to friends for free entry.</a:t>
            </a:r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</a:defRPr>
            </a:pPr>
            <a:r>
              <a:t>• Certificates of Participation are awarded to students who skipped the event.</a:t>
            </a:r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</a:defRPr>
            </a:pPr>
            <a:r>
              <a:t>• Devalues college academic credentials.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645920"/>
            <a:ext cx="3291840" cy="4389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800"/>
              </a:spcAft>
              <a:defRPr sz="1300" b="1">
                <a:solidFill>
                  <a:srgbClr val="EF4444"/>
                </a:solidFill>
              </a:defRPr>
            </a:pPr>
            <a:r>
              <a:t>3. Fragmented Fest Fundraising</a:t>
            </a:r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</a:defRPr>
            </a:pPr>
            <a:r>
              <a:t>• Seniors asking for festival donations (Navratri, Farewell) rely on cash collection.</a:t>
            </a:r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</a:defRPr>
            </a:pPr>
            <a:r>
              <a:t>• Zero transparency on how much money was raised versus the target goal.</a:t>
            </a:r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</a:defRPr>
            </a:pPr>
            <a:r>
              <a:t>• Double-booking during popular paid workshops when the last ticket sells out.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4F46E5"/>
                </a:solidFill>
              </a:defRPr>
            </a:pPr>
            <a:r>
              <a:t>BOOKMYCOLLEGE • CAMPUS EVENT &amp; CROWDFUNDING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The Solution: BookMyCollege Unified Campus 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2103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800"/>
              </a:spcAft>
              <a:defRPr sz="1300" b="1">
                <a:solidFill>
                  <a:srgbClr val="4F46E5"/>
                </a:solidFill>
              </a:defRPr>
            </a:pPr>
            <a:r>
              <a:t>🎟️ 1. Smart Ticketing &amp; Zero Double-Booking</a:t>
            </a:r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</a:defRPr>
            </a:pPr>
            <a:r>
              <a:t>• Real-time event discovery with 0ms client-side search &amp; filtering.</a:t>
            </a:r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</a:defRPr>
            </a:pPr>
            <a:r>
              <a:t>• Database row-locks prevent overselling the last seat.</a:t>
            </a:r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</a:defRPr>
            </a:pPr>
            <a:r>
              <a:t>• Automated instant refunds if payment completes after seats sell out.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120640" cy="2103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800"/>
              </a:spcAft>
              <a:defRPr sz="1300" b="1">
                <a:solidFill>
                  <a:srgbClr val="4F46E5"/>
                </a:solidFill>
              </a:defRPr>
            </a:pPr>
            <a:r>
              <a:t>💖 2. Transparent Fest Crowdfunding</a:t>
            </a:r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</a:defRPr>
            </a:pPr>
            <a:r>
              <a:t>• Dedicated donation campaigns for campus festivals (Navratri, Farewell).</a:t>
            </a:r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</a:defRPr>
            </a:pPr>
            <a:r>
              <a:t>• Live animated progress bar showing funds raised vs goal.</a:t>
            </a:r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</a:defRPr>
            </a:pPr>
            <a:r>
              <a:t>• Accepts custom variable amounts (₹50, ₹100, ₹500) via Razorpay UPI.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023360"/>
            <a:ext cx="5120640" cy="2103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800"/>
              </a:spcAft>
              <a:defRPr sz="1300" b="1">
                <a:solidFill>
                  <a:srgbClr val="4F46E5"/>
                </a:solidFill>
              </a:defRPr>
            </a:pPr>
            <a:r>
              <a:t>📷 3. In-Browser Gatekeeper Scanner</a:t>
            </a:r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</a:defRPr>
            </a:pPr>
            <a:r>
              <a:t>• Volunteers use their smartphone cameras directly in the browser.</a:t>
            </a:r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</a:defRPr>
            </a:pPr>
            <a:r>
              <a:t>• No APK installation required; validates QR codes in under 1 second.</a:t>
            </a:r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</a:defRPr>
            </a:pPr>
            <a:r>
              <a:t>• Detects already-used passes instantly to eliminate proxy attendance.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4023360"/>
            <a:ext cx="5120640" cy="2103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800"/>
              </a:spcAft>
              <a:defRPr sz="1300" b="1">
                <a:solidFill>
                  <a:srgbClr val="4F46E5"/>
                </a:solidFill>
              </a:defRPr>
            </a:pPr>
            <a:r>
              <a:t>🎓 4. Verified Participation Certificates</a:t>
            </a:r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</a:defRPr>
            </a:pPr>
            <a:r>
              <a:t>• Proof-of-attendance lock: certificates stay locked for no-shows.</a:t>
            </a:r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</a:defRPr>
            </a:pPr>
            <a:r>
              <a:t>• Unlocked only when the ticket is physically scanned at the door.</a:t>
            </a:r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</a:defRPr>
            </a:pPr>
            <a:r>
              <a:t>• Rendered in-browser at 300 DPI print quality with zero server cost.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4F46E5"/>
                </a:solidFill>
              </a:defRPr>
            </a:pPr>
            <a:r>
              <a:t>BOOKMYCOLLEGE • CAMPUS EVENT &amp; CROWDFUNDING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BookMyCollege Architecture &amp; Technology Stack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468880" cy="4389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800"/>
              </a:spcAft>
              <a:defRPr sz="1300" b="1">
                <a:solidFill>
                  <a:srgbClr val="2563EB"/>
                </a:solidFill>
              </a:defRPr>
            </a:pPr>
            <a:r>
              <a:t>Frontend Client</a:t>
            </a:r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</a:defRPr>
            </a:pPr>
            <a:r>
              <a:t>• HTML5 &amp; Tailwind CSS</a:t>
            </a:r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</a:defRPr>
            </a:pPr>
            <a:r>
              <a:t>• Vanilla ES6+ JavaScript</a:t>
            </a:r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</a:defRPr>
            </a:pPr>
            <a:r>
              <a:t>• Zero framework bloat</a:t>
            </a:r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</a:defRPr>
            </a:pPr>
            <a:r>
              <a:t>• 100% Mobile responsive</a:t>
            </a:r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</a:defRPr>
            </a:pPr>
            <a:r>
              <a:t>• Dark &amp; Light mode engine</a:t>
            </a:r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</a:defRPr>
            </a:pPr>
            <a:r>
              <a:t>• Single Page Router</a:t>
            </a:r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</a:defRPr>
            </a:pPr>
            <a:r>
              <a:t>• Off-screen Canvas Graphics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74720" y="1645920"/>
            <a:ext cx="2468880" cy="4389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800"/>
              </a:spcAft>
              <a:defRPr sz="1300" b="1">
                <a:solidFill>
                  <a:srgbClr val="4F46E5"/>
                </a:solidFill>
              </a:defRPr>
            </a:pPr>
            <a:r>
              <a:t>Cloud Database</a:t>
            </a:r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</a:defRPr>
            </a:pPr>
            <a:r>
              <a:t>• Supabase (PostgreSQL 15)</a:t>
            </a:r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</a:defRPr>
            </a:pPr>
            <a:r>
              <a:t>• Row-Level Security (RLS)</a:t>
            </a:r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</a:defRPr>
            </a:pPr>
            <a:r>
              <a:t>• Pessimistic Row Locks</a:t>
            </a:r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</a:defRPr>
            </a:pPr>
            <a:r>
              <a:t>• Atomic Stored Procedures</a:t>
            </a:r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</a:defRPr>
            </a:pPr>
            <a:r>
              <a:t>• Real-time event subscriptions</a:t>
            </a:r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</a:defRPr>
            </a:pPr>
            <a:r>
              <a:t>• Supabase CDN Object Storage</a:t>
            </a:r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</a:defRPr>
            </a:pPr>
            <a:r>
              <a:t>• Automated profile hydration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2468880" cy="4389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800"/>
              </a:spcAft>
              <a:defRPr sz="1300" b="1">
                <a:solidFill>
                  <a:srgbClr val="10B981"/>
                </a:solidFill>
              </a:defRPr>
            </a:pPr>
            <a:r>
              <a:t>Payment Gateway</a:t>
            </a:r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</a:defRPr>
            </a:pPr>
            <a:r>
              <a:t>• Razorpay Checkout SDK</a:t>
            </a:r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</a:defRPr>
            </a:pPr>
            <a:r>
              <a:t>• UPI / GPay / Paytm / Cards</a:t>
            </a:r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</a:defRPr>
            </a:pPr>
            <a:r>
              <a:t>• Serverless API endpoints</a:t>
            </a:r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</a:defRPr>
            </a:pPr>
            <a:r>
              <a:t>• HMAC-SHA256 Signatures</a:t>
            </a:r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</a:defRPr>
            </a:pPr>
            <a:r>
              <a:t>• Optimum Speed Refund API</a:t>
            </a:r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</a:defRPr>
            </a:pPr>
            <a:r>
              <a:t>• Secret Key encapsulation</a:t>
            </a:r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</a:defRPr>
            </a:pPr>
            <a:r>
              <a:t>• Paise integer precision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61120" y="1645920"/>
            <a:ext cx="2468880" cy="4389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800"/>
              </a:spcAft>
              <a:defRPr sz="1300" b="1">
                <a:solidFill>
                  <a:srgbClr val="0F172A"/>
                </a:solidFill>
              </a:defRPr>
            </a:pPr>
            <a:r>
              <a:t>Hardware &amp; Optics</a:t>
            </a:r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</a:defRPr>
            </a:pPr>
            <a:r>
              <a:t>• WebRTC MediaStream API</a:t>
            </a:r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</a:defRPr>
            </a:pPr>
            <a:r>
              <a:t>• Rear Camera (environment)</a:t>
            </a:r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</a:defRPr>
            </a:pPr>
            <a:r>
              <a:t>• jsQR frame parsing at 60 FPS</a:t>
            </a:r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</a:defRPr>
            </a:pPr>
            <a:r>
              <a:t>• Concurrency debounce lock</a:t>
            </a:r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</a:defRPr>
            </a:pPr>
            <a:r>
              <a:t>• 128-bit UUID QR payload</a:t>
            </a:r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</a:defRPr>
            </a:pPr>
            <a:r>
              <a:t>• html2canvas DOM capture</a:t>
            </a:r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</a:defRPr>
            </a:pPr>
            <a:r>
              <a:t>• Chart.js visual analytics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4F46E5"/>
                </a:solidFill>
              </a:defRPr>
            </a:pPr>
            <a:r>
              <a:t>BOOKMYCOLLEGE • CAMPUS EVENT &amp; CROWDFUNDING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Concurrency: How BookMyCollege Prevents Double-Booking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800"/>
              </a:spcAft>
              <a:defRPr sz="1300" b="1">
                <a:solidFill>
                  <a:srgbClr val="0F172A"/>
                </a:solidFill>
              </a:defRPr>
            </a:pPr>
            <a:r>
              <a:t>The Double-Booking Problem</a:t>
            </a:r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</a:defRPr>
            </a:pPr>
            <a:r>
              <a:t>• The Scenario: An event has only 1 remaining seat.</a:t>
            </a:r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</a:defRPr>
            </a:pPr>
            <a:r>
              <a:t>• Two students click 'Pay' at the exact same millisecond.</a:t>
            </a:r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</a:defRPr>
            </a:pPr>
            <a:r>
              <a:t>• In standard websites, both payments succeed, causing seat clashes and furious attendees.</a:t>
            </a:r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</a:defRPr>
            </a:pPr>
            <a:r>
              <a:t>• </a:t>
            </a:r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</a:defRPr>
            </a:pPr>
            <a:r>
              <a:t>• Our Solution: Database Row Locks</a:t>
            </a:r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</a:defRPr>
            </a:pPr>
            <a:r>
              <a:t>• We created a PostgreSQL stored procedure (book_ticket_safe).</a:t>
            </a:r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</a:defRPr>
            </a:pPr>
            <a:r>
              <a:t>• It locks the event row with 'SELECT ... FOR UPDATE'.</a:t>
            </a:r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</a:defRPr>
            </a:pPr>
            <a:r>
              <a:t>• Student A's transaction decrements seats to 0 and claims the pass.</a:t>
            </a:r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</a:defRPr>
            </a:pPr>
            <a:r>
              <a:t>• Student B's transaction waits in queue, reads 0, and immediately aborts with error: 'SOLD_OUT'.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800"/>
              </a:spcAft>
              <a:defRPr sz="1300" b="1">
                <a:solidFill>
                  <a:srgbClr val="10B981"/>
                </a:solidFill>
              </a:defRPr>
            </a:pPr>
            <a:r>
              <a:t>Automated Circuit-Breaker Refund API</a:t>
            </a:r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</a:defRPr>
            </a:pPr>
            <a:r>
              <a:t>• What about Student B's deducted money?</a:t>
            </a:r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</a:defRPr>
            </a:pPr>
            <a:r>
              <a:t>• Because Student B already paid on Razorpay before the seat check completed, their funds were debited.</a:t>
            </a:r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</a:defRPr>
            </a:pPr>
            <a:r>
              <a:t>• </a:t>
            </a:r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</a:defRPr>
            </a:pPr>
            <a:r>
              <a:t>• Instant Reversal Flow:</a:t>
            </a:r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</a:defRPr>
            </a:pPr>
            <a:r>
              <a:t>• 1. Frontend catches 'SOLD_OUT' exception from database.</a:t>
            </a:r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</a:defRPr>
            </a:pPr>
            <a:r>
              <a:t>• 2. Immediately calls backend POST /api/refund-payment.</a:t>
            </a:r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</a:defRPr>
            </a:pPr>
            <a:r>
              <a:t>• 3. Instructs Razorpay API to process an Instant Refund (speed: optimum).</a:t>
            </a:r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</a:defRPr>
            </a:pPr>
            <a:r>
              <a:t>• 4. Money is reversed immediately to the student's UPI or card.</a:t>
            </a:r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</a:defRPr>
            </a:pPr>
            <a:r>
              <a:t>• 5. Screen shows a reassuring modal with the Refund Reference ID.</a:t>
            </a:r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</a:defRPr>
            </a:pPr>
            <a:r>
              <a:t>• Result: Zero financial disputes, zero manual work for organizers.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4F46E5"/>
                </a:solidFill>
              </a:defRPr>
            </a:pPr>
            <a:r>
              <a:t>BOOKMYCOLLEGE • CAMPUS EVENT &amp; CROWDFUNDING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Gatekeeper Scanner: In-Browser Verification &amp; Anti-Fraud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800"/>
              </a:spcAft>
              <a:defRPr sz="1300" b="1">
                <a:solidFill>
                  <a:srgbClr val="0F172A"/>
                </a:solidFill>
              </a:defRPr>
            </a:pPr>
            <a:r>
              <a:t>Why Simple QR Codes are Insecure</a:t>
            </a:r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</a:defRPr>
            </a:pPr>
            <a:r>
              <a:t>• Flaw in naive systems: Putting student name or 'ADMIT 1' inside the QR code.</a:t>
            </a:r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</a:defRPr>
            </a:pPr>
            <a:r>
              <a:t>• Any student can use a free online QR generator to create fake passes or alter details in Photoshop.</a:t>
            </a:r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</a:defRPr>
            </a:pPr>
            <a:r>
              <a:t>• </a:t>
            </a:r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</a:defRPr>
            </a:pPr>
            <a:r>
              <a:t>• BookMyCollege Cryptographic Architecture:</a:t>
            </a:r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</a:defRPr>
            </a:pPr>
            <a:r>
              <a:t>• • The QR code encodes only a random 128-bit Ticket UUID.</a:t>
            </a:r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</a:defRPr>
            </a:pPr>
            <a:r>
              <a:t>• • Contains zero readable personal text.</a:t>
            </a:r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</a:defRPr>
            </a:pPr>
            <a:r>
              <a:t>• • The scanner performs an authenticated lookup in the database to verify the UUID.</a:t>
            </a:r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</a:defRPr>
            </a:pPr>
            <a:r>
              <a:t>• • Fake tickets fail immediately during UUID validation.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800"/>
              </a:spcAft>
              <a:defRPr sz="1300" b="1">
                <a:solidFill>
                  <a:srgbClr val="4F46E5"/>
                </a:solidFill>
              </a:defRPr>
            </a:pPr>
            <a:r>
              <a:t>Smartphone Web Scanner &amp; Anti-Proxy Gate</a:t>
            </a:r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</a:defRPr>
            </a:pPr>
            <a:r>
              <a:t>• Hardware Rear Camera Integration:</a:t>
            </a:r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</a:defRPr>
            </a:pPr>
            <a:r>
              <a:t>• • Uses WebRTC facingMode: 'environment' directly in mobile browsers.</a:t>
            </a:r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</a:defRPr>
            </a:pPr>
            <a:r>
              <a:t>• • No APK installation required for student volunteers.</a:t>
            </a:r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</a:defRPr>
            </a:pPr>
            <a:r>
              <a:t>• </a:t>
            </a:r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</a:defRPr>
            </a:pPr>
            <a:r>
              <a:t>• Frame Mutex Lock (isProcessing):</a:t>
            </a:r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</a:defRPr>
            </a:pPr>
            <a:r>
              <a:t>• • Video camera runs at 60 FPS.</a:t>
            </a:r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</a:defRPr>
            </a:pPr>
            <a:r>
              <a:t>• • A debounce mutex flag pauses decoding for 2 seconds to prevent 50 duplicate network hits per second.</a:t>
            </a:r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</a:defRPr>
            </a:pPr>
            <a:r>
              <a:t>• </a:t>
            </a:r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</a:defRPr>
            </a:pPr>
            <a:r>
              <a:t>• Anti-Duplication Alert:</a:t>
            </a:r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</a:defRPr>
            </a:pPr>
            <a:r>
              <a:t>• • If a pass was already scanned: flashes RED with 'ALREADY USED'.</a:t>
            </a:r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</a:defRPr>
            </a:pPr>
            <a:r>
              <a:t>• • If valid: flashes GREEN, plays success chime, and displays attendee details.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4F46E5"/>
                </a:solidFill>
              </a:defRPr>
            </a:pPr>
            <a:r>
              <a:t>BOOKMYCOLLEGE • CAMPUS EVENT &amp; CROWDFUNDING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Verified Certificates &amp; Festival Crowdfunding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800"/>
              </a:spcAft>
              <a:defRPr sz="1300" b="1">
                <a:solidFill>
                  <a:srgbClr val="4F46E5"/>
                </a:solidFill>
              </a:defRPr>
            </a:pPr>
            <a:r>
              <a:t>Smart Proof-of-Attendance Certificates</a:t>
            </a:r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</a:defRPr>
            </a:pPr>
            <a:r>
              <a:t>• The Problem: Students collect certificates without ever attending events.</a:t>
            </a:r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</a:defRPr>
            </a:pPr>
            <a:r>
              <a:t>• </a:t>
            </a:r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</a:defRPr>
            </a:pPr>
            <a:r>
              <a:t>• Our Gatekeeping Logic:</a:t>
            </a:r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</a:defRPr>
            </a:pPr>
            <a:r>
              <a:t>• • Database tracks 'is_scanned' status for every ticket.</a:t>
            </a:r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</a:defRPr>
            </a:pPr>
            <a:r>
              <a:t>• • If attendee was absent: button is locked (🔒 Certificate Locked).</a:t>
            </a:r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</a:defRPr>
            </a:pPr>
            <a:r>
              <a:t>• • If attendee checked in at the door: button is instantly unlocked.</a:t>
            </a:r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</a:defRPr>
            </a:pPr>
            <a:r>
              <a:t>• </a:t>
            </a:r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</a:defRPr>
            </a:pPr>
            <a:r>
              <a:t>• Zero-Backend Canvas Graphics Engine:</a:t>
            </a:r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</a:defRPr>
            </a:pPr>
            <a:r>
              <a:t>• • Renders certificate on an off-screen HTML5 Canvas.</a:t>
            </a:r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</a:defRPr>
            </a:pPr>
            <a:r>
              <a:t>• • High resolution: 1600 × 1130 pixels (~300 DPI print quality).</a:t>
            </a:r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</a:defRPr>
            </a:pPr>
            <a:r>
              <a:t>• • Procedural Guilloche mathematical security seal.</a:t>
            </a:r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</a:defRPr>
            </a:pPr>
            <a:r>
              <a:t>• • Smooth Bézier curve faculty signatures.</a:t>
            </a:r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</a:defRPr>
            </a:pPr>
            <a:r>
              <a:t>• • Renders in &lt;80 milliseconds with zero cloud server cost!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800"/>
              </a:spcAft>
              <a:defRPr sz="1300" b="1">
                <a:solidFill>
                  <a:srgbClr val="10B981"/>
                </a:solidFill>
              </a:defRPr>
            </a:pPr>
            <a:r>
              <a:t>Festival Crowdfunding (Navratri / Farewell)</a:t>
            </a:r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</a:defRPr>
            </a:pPr>
            <a:r>
              <a:t>• Moving Campus Cash Collections Online:</a:t>
            </a:r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</a:defRPr>
            </a:pPr>
            <a:r>
              <a:t>• • Dedicated 'Donations' category alongside workshops &amp; sports.</a:t>
            </a:r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</a:defRPr>
            </a:pPr>
            <a:r>
              <a:t>• • Seniors &amp; collegiate clubs can launch campaigns for cultural fests.</a:t>
            </a:r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</a:defRPr>
            </a:pPr>
            <a:r>
              <a:t>• </a:t>
            </a:r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</a:defRPr>
            </a:pPr>
            <a:r>
              <a:t>• Dynamic Variable Contribution:</a:t>
            </a:r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</a:defRPr>
            </a:pPr>
            <a:r>
              <a:t>• • Unlike fixed-seat events, crowdfunding has no seat limit.</a:t>
            </a:r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</a:defRPr>
            </a:pPr>
            <a:r>
              <a:t>• • Contributors can donate any custom amount (₹50, ₹100, ₹500, etc.).</a:t>
            </a:r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</a:defRPr>
            </a:pPr>
            <a:r>
              <a:t>• • Razorpay payment gateway processes donations smoothly.</a:t>
            </a:r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</a:defRPr>
            </a:pPr>
            <a:r>
              <a:t>• </a:t>
            </a:r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</a:defRPr>
            </a:pPr>
            <a:r>
              <a:t>• Live Community Progress:</a:t>
            </a:r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</a:defRPr>
            </a:pPr>
            <a:r>
              <a:t>• • Real-time progress bar shows Current Raised vs Goal Target.</a:t>
            </a:r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</a:defRPr>
            </a:pPr>
            <a:r>
              <a:t>• • Complete transparency for students and faculty coordinators.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4F46E5"/>
                </a:solidFill>
              </a:defRPr>
            </a:pPr>
            <a:r>
              <a:t>BOOKMYCOLLEGE • CAMPUS EVENT &amp; CROWDFUNDING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Organizer Suite: Role Delegation, Charts &amp; CSV Export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800"/>
              </a:spcAft>
              <a:defRPr sz="1300" b="1">
                <a:solidFill>
                  <a:srgbClr val="4F46E5"/>
                </a:solidFill>
              </a:defRPr>
            </a:pPr>
            <a:r>
              <a:t>1. Volunteer Scanner Delegation</a:t>
            </a:r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</a:defRPr>
            </a:pPr>
            <a:r>
              <a:t>• Organizers need junior volunteers to scan tickets at entry.</a:t>
            </a:r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</a:defRPr>
            </a:pPr>
            <a:r>
              <a:t>• Giving volunteers admin passwords is a security risk.</a:t>
            </a:r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</a:defRPr>
            </a:pPr>
            <a:r>
              <a:t>• Our Fix: SECURITY DEFINER RPC.</a:t>
            </a:r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</a:defRPr>
            </a:pPr>
            <a:r>
              <a:t>• Organizers assign volunteers by student email.</a:t>
            </a:r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</a:defRPr>
            </a:pPr>
            <a:r>
              <a:t>• Volunteers get permission ONLY to scan tickets for that single event.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645920"/>
            <a:ext cx="3291840" cy="4389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800"/>
              </a:spcAft>
              <a:defRPr sz="1300" b="1">
                <a:solidFill>
                  <a:srgbClr val="2563EB"/>
                </a:solidFill>
              </a:defRPr>
            </a:pPr>
            <a:r>
              <a:t>2. Demographic Visualizations</a:t>
            </a:r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</a:defRPr>
            </a:pPr>
            <a:r>
              <a:t>• Powered by Chart.js for real-time visual insights.</a:t>
            </a:r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</a:defRPr>
            </a:pPr>
            <a:r>
              <a:t>• Gender Diversity: Donut chart of Male vs Female participants.</a:t>
            </a:r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</a:defRPr>
            </a:pPr>
            <a:r>
              <a:t>• Department Breakdown: Bar chart of CSE, ECE, Mech, Civil registrations.</a:t>
            </a:r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</a:defRPr>
            </a:pPr>
            <a:r>
              <a:t>• Academic Year: Polar area chart showing 1st to 4th-year engagement.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645920"/>
            <a:ext cx="3291840" cy="4389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800"/>
              </a:spcAft>
              <a:defRPr sz="1300" b="1">
                <a:solidFill>
                  <a:srgbClr val="10B981"/>
                </a:solidFill>
              </a:defRPr>
            </a:pPr>
            <a:r>
              <a:t>3. Sanitized Excel CSV Export</a:t>
            </a:r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</a:defRPr>
            </a:pPr>
            <a:r>
              <a:t>• 1-click export of verified attendance lists.</a:t>
            </a:r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</a:defRPr>
            </a:pPr>
            <a:r>
              <a:t>• Formatted timestamps converted to Indian Standard Time (IST).</a:t>
            </a:r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</a:defRPr>
            </a:pPr>
            <a:r>
              <a:t>• Security Feature: CSV formula injection sanitization.</a:t>
            </a:r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</a:defRPr>
            </a:pPr>
            <a:r>
              <a:t>• Prepends an apostrophe to inputs starting with '=', '+', '-', '@' to prevent spreadsheet macro exploits.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4F46E5"/>
                </a:solidFill>
              </a:defRPr>
            </a:pPr>
            <a:r>
              <a:t>BOOKMYCOLLEGE • CAMPUS EVENT &amp; CROWDFUNDING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BookMyCollege Live Demonstration 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011680" cy="4389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800"/>
              </a:spcAft>
              <a:defRPr sz="1300" b="1">
                <a:solidFill>
                  <a:srgbClr val="4F46E5"/>
                </a:solidFill>
              </a:defRPr>
            </a:pPr>
            <a:r>
              <a:t>Step 1: Discover</a:t>
            </a:r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</a:defRPr>
            </a:pPr>
            <a:r>
              <a:t>• Open BookMyCollege.</a:t>
            </a:r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</a:defRPr>
            </a:pPr>
            <a:r>
              <a:t>• Use 0ms live search and category chips.</a:t>
            </a:r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</a:defRPr>
            </a:pPr>
            <a:r>
              <a:t>• Toggle Dark / Light mode.</a:t>
            </a:r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</a:defRPr>
            </a:pPr>
            <a:r>
              <a:t>• Inspect festival crowdfunding campaign.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926080" y="1645920"/>
            <a:ext cx="2011680" cy="4389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800"/>
              </a:spcAft>
              <a:defRPr sz="1300" b="1">
                <a:solidFill>
                  <a:srgbClr val="2563EB"/>
                </a:solidFill>
              </a:defRPr>
            </a:pPr>
            <a:r>
              <a:t>Step 2: Book</a:t>
            </a:r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</a:defRPr>
            </a:pPr>
            <a:r>
              <a:t>• Select paid fest or workshop.</a:t>
            </a:r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</a:defRPr>
            </a:pPr>
            <a:r>
              <a:t>• Trigger Razorpay checkout modal.</a:t>
            </a:r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</a:defRPr>
            </a:pPr>
            <a:r>
              <a:t>• Complete payment via UPI test card.</a:t>
            </a:r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</a:defRPr>
            </a:pPr>
            <a:r>
              <a:t>• Database updates seats atomically.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120640" y="1645920"/>
            <a:ext cx="2011680" cy="4389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800"/>
              </a:spcAft>
              <a:defRPr sz="1300" b="1">
                <a:solidFill>
                  <a:srgbClr val="10B981"/>
                </a:solidFill>
              </a:defRPr>
            </a:pPr>
            <a:r>
              <a:t>Step 3: Wallet</a:t>
            </a:r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</a:defRPr>
            </a:pPr>
            <a:r>
              <a:t>• Navigate to My Wallet.</a:t>
            </a:r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</a:defRPr>
            </a:pPr>
            <a:r>
              <a:t>• View perforated movie-style ticket.</a:t>
            </a:r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</a:defRPr>
            </a:pPr>
            <a:r>
              <a:t>• Inspect secure UUID QR code.</a:t>
            </a:r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</a:defRPr>
            </a:pPr>
            <a:r>
              <a:t>• Save pass as PNG or sync to Google Calendar.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0" y="1645920"/>
            <a:ext cx="2011680" cy="4389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800"/>
              </a:spcAft>
              <a:defRPr sz="1300" b="1">
                <a:solidFill>
                  <a:srgbClr val="0F172A"/>
                </a:solidFill>
              </a:defRPr>
            </a:pPr>
            <a:r>
              <a:t>Step 4: Check-In</a:t>
            </a:r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</a:defRPr>
            </a:pPr>
            <a:r>
              <a:t>• Volunteer opens Scanner on smartphone.</a:t>
            </a:r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</a:defRPr>
            </a:pPr>
            <a:r>
              <a:t>• Scan attendee QR code.</a:t>
            </a:r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</a:defRPr>
            </a:pPr>
            <a:r>
              <a:t>• Green alert: Access Granted + Beep chime.</a:t>
            </a:r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</a:defRPr>
            </a:pPr>
            <a:r>
              <a:t>• Scan again: Red alert: Already Used!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509760" y="1645920"/>
            <a:ext cx="2011680" cy="4389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800"/>
              </a:spcAft>
              <a:defRPr sz="1300" b="1">
                <a:solidFill>
                  <a:srgbClr val="4F46E5"/>
                </a:solidFill>
              </a:defRPr>
            </a:pPr>
            <a:r>
              <a:t>Step 5: Verify</a:t>
            </a:r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</a:defRPr>
            </a:pPr>
            <a:r>
              <a:t>• Attendee visits History portal.</a:t>
            </a:r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</a:defRPr>
            </a:pPr>
            <a:r>
              <a:t>• Check-in verified: Certificate unlocks.</a:t>
            </a:r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</a:defRPr>
            </a:pPr>
            <a:r>
              <a:t>• Download 300 DPI canvas certificate.</a:t>
            </a:r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</a:defRPr>
            </a:pPr>
            <a:r>
              <a:t>• Post 5-star verified attendee review.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4F46E5"/>
                </a:solidFill>
              </a:defRPr>
            </a:pPr>
            <a:r>
              <a:t>BOOKMYCOLLEGE • CAMPUS EVENT &amp; CROWDFUNDING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Viva Defense: How We Answer Tough Questions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2103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800"/>
              </a:spcAft>
              <a:defRPr sz="1300" b="1">
                <a:solidFill>
                  <a:srgbClr val="0F172A"/>
                </a:solidFill>
              </a:defRPr>
            </a:pPr>
            <a:r>
              <a:t>Q1: Can someone enter with a ticket screenshot?</a:t>
            </a:r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</a:defRPr>
            </a:pPr>
            <a:r>
              <a:t>• Answer: No. The QR contains only a unique ticket UUID.</a:t>
            </a:r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</a:defRPr>
            </a:pPr>
            <a:r>
              <a:t>• The moment the first person is scanned, the database marks it as 'Already Used'.</a:t>
            </a:r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</a:defRPr>
            </a:pPr>
            <a:r>
              <a:t>• Any forwarded screenshot flashes a RED warning on the volunteer's scanner.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120640" cy="2103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800"/>
              </a:spcAft>
              <a:defRPr sz="1300" b="1">
                <a:solidFill>
                  <a:srgbClr val="4F46E5"/>
                </a:solidFill>
              </a:defRPr>
            </a:pPr>
            <a:r>
              <a:t>Q2: How is double-booking prevented during fests?</a:t>
            </a:r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</a:defRPr>
            </a:pPr>
            <a:r>
              <a:t>• Answer: PostgreSQL row-level locks (book_ticket_safe RPC).</a:t>
            </a:r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</a:defRPr>
            </a:pPr>
            <a:r>
              <a:t>• Concurrent requests wait in queue; only 1 claims the last seat.</a:t>
            </a:r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</a:defRPr>
            </a:pPr>
            <a:r>
              <a:t>• If payment completes for an oversold seat, our backend calls Razorpay's API for an instant auto-refund.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023360"/>
            <a:ext cx="5120640" cy="2103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800"/>
              </a:spcAft>
              <a:defRPr sz="1300" b="1">
                <a:solidFill>
                  <a:srgbClr val="2563EB"/>
                </a:solidFill>
              </a:defRPr>
            </a:pPr>
            <a:r>
              <a:t>Q3: Why a browser scanner instead of an Android APK?</a:t>
            </a:r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</a:defRPr>
            </a:pPr>
            <a:r>
              <a:t>• Answer: College volunteers change for every event.</a:t>
            </a:r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</a:defRPr>
            </a:pPr>
            <a:r>
              <a:t>• Installing APKs on 20 student phones causes delays.</a:t>
            </a:r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</a:defRPr>
            </a:pPr>
            <a:r>
              <a:t>• BookMyCollege scanner runs instantly on mobile Chrome/Safari with zero installation.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4023360"/>
            <a:ext cx="5120640" cy="2103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800"/>
              </a:spcAft>
              <a:defRPr sz="1300" b="1">
                <a:solidFill>
                  <a:srgbClr val="10B981"/>
                </a:solidFill>
              </a:defRPr>
            </a:pPr>
            <a:r>
              <a:t>Q4: How do you verify payment authenticity?</a:t>
            </a:r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</a:defRPr>
            </a:pPr>
            <a:r>
              <a:t>• Answer: The client browser never decides payment validity.</a:t>
            </a:r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</a:defRPr>
            </a:pPr>
            <a:r>
              <a:t>• Serverless API (api/verify-payment.js) calculates an HMAC-SHA256 signature using our secret key to verify the bank receipt.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4F46E5"/>
                </a:solidFill>
              </a:defRPr>
            </a:pPr>
            <a:r>
              <a:t>BOOKMYCOLLEGE • CAMPUS EVENT &amp; CROWDFUNDING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Campus Impact &amp; Future Roadmap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800"/>
              </a:spcAft>
              <a:defRPr sz="1300" b="1">
                <a:solidFill>
                  <a:srgbClr val="4F46E5"/>
                </a:solidFill>
              </a:defRPr>
            </a:pPr>
            <a:r>
              <a:t>Immediate Campus Impact</a:t>
            </a:r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</a:defRPr>
            </a:pPr>
            <a:r>
              <a:t>• 100% Paperless Ticketing: Eliminates paper passes, wristbands, and printed rosters.</a:t>
            </a:r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</a:defRPr>
            </a:pPr>
            <a:r>
              <a:t>• Zero Proxy Attendance: Guarantees authentic participation records for college NAAC/NBA accreditations.</a:t>
            </a:r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</a:defRPr>
            </a:pPr>
            <a:r>
              <a:t>• Transparent Fest Finances: All ticket revenues and student donations are tracked digitally with zero cash leakage.</a:t>
            </a:r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</a:defRPr>
            </a:pPr>
            <a:r>
              <a:t>• Instant Verification: Students download official certificates immediately without queuing at club desks.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800"/>
              </a:spcAft>
              <a:defRPr sz="1300" b="1">
                <a:solidFill>
                  <a:srgbClr val="2563EB"/>
                </a:solidFill>
              </a:defRPr>
            </a:pPr>
            <a:r>
              <a:t>Future Engineering Roadmap</a:t>
            </a:r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</a:defRPr>
            </a:pPr>
            <a:r>
              <a:t>• Inter-College Pass Federation: Single sign-on for visiting colleges during inter-university fests.</a:t>
            </a:r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</a:defRPr>
            </a:pPr>
            <a:r>
              <a:t>• NFC Campus Smartcard Tap: Enable student ID cards to act as tickets via Web-NFC.</a:t>
            </a:r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</a:defRPr>
            </a:pPr>
            <a:r>
              <a:t>• Automated WhatsApp Ticket Delivery: Forward digital passes and calendar reminders via WhatsApp Business API.</a:t>
            </a:r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</a:defRPr>
            </a:pPr>
            <a:r>
              <a:t>• AI-Powered Fest Recommendations: Suggest workshops based on student branch and past attendance.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828800" y="1645920"/>
            <a:ext cx="8534095" cy="38404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457200"/>
          <a:lstStyle/>
          <a:p>
            <a:pPr algn="ctr">
              <a:spcAft>
                <a:spcPts val="1000"/>
              </a:spcAft>
              <a:defRPr sz="1200" b="1">
                <a:solidFill>
                  <a:srgbClr val="4F46E5"/>
                </a:solidFill>
              </a:defRPr>
            </a:pPr>
            <a:r>
              <a:t>CONCLUSION</a:t>
            </a:r>
          </a:p>
          <a:p>
            <a:pPr>
              <a:spcAft>
                <a:spcPts val="1200"/>
              </a:spcAft>
              <a:defRPr sz="3600" b="1">
                <a:solidFill>
                  <a:srgbClr val="0F172A"/>
                </a:solidFill>
              </a:defRPr>
            </a:pPr>
            <a:r>
              <a:t>BookMyCollege</a:t>
            </a:r>
          </a:p>
          <a:p>
            <a:pPr>
              <a:spcAft>
                <a:spcPts val="2000"/>
              </a:spcAft>
              <a:defRPr sz="1200">
                <a:solidFill>
                  <a:srgbClr val="1E293B"/>
                </a:solidFill>
              </a:defRPr>
            </a:pPr>
            <a:r>
              <a:t>A complete, production-ready solution solving real campus problems: seamless ticket discovery, zero double-booking, smartphone QR check-in, transparent fest fundraising, and tamper-proof participation certificates.</a:t>
            </a:r>
          </a:p>
          <a:p>
            <a:pPr>
              <a:defRPr sz="1500" b="1">
                <a:solidFill>
                  <a:srgbClr val="4F46E5"/>
                </a:solidFill>
              </a:defRPr>
            </a:pPr>
            <a:r>
              <a:t>Thank You! We are open for Questions &amp; Answers.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